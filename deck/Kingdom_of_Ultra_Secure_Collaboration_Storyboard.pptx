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image" Target="../media/image-3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ithub-slideshow/page/assets/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D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07182D">
              <a:alpha val="9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A VISUAL STORYBOARD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356616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Kingdom of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Ultra Secure Collaboration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822960" y="54406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 medieval kingdom explains Cisco's Zero-Trust meetings, calls and identity — story slides 15–19, one panel per beat.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1447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Cisco Tech Elevate Sessions at GSX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One story, told twice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panel that follows carries the fable on the left and the technology on the right. The allegory is exact — each character and prop maps to a real Cisco Ultra Secure capability.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57800" cy="3566160"/>
          </a:xfrm>
          <a:prstGeom prst="roundRect">
            <a:avLst>
              <a:gd name="adj" fmla="val 3590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pic>
        <p:nvPicPr>
          <p:cNvPr id="5" name="Image 0" descr="/home/user/github-slideshow/page/assets/cast_cas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395728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25420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468880" y="2880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DE8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kingdom, its Lords, and a guarded castle. Identities are proven, secrets are sealed in a magic book, and unwelcome crows are shut out.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2103120"/>
            <a:ext cx="5257800" cy="3566160"/>
          </a:xfrm>
          <a:prstGeom prst="roundRect">
            <a:avLst>
              <a:gd name="adj" fmla="val 3590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pic>
        <p:nvPicPr>
          <p:cNvPr id="9" name="Image 1" descr="/home/user/github-slideshow/page/assets/cast_medall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395728"/>
            <a:ext cx="1371600" cy="1371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92440" y="25420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092440" y="2880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DE8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Zero-trust identity, end-to-end encryption with rotating keys, on-prem AI services, and secure external access — all under customer control.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each panel left → right:  the fable sets the scene, the decoder line names the real control.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premise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Cast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Taxonomy from the story bible — who's who, and what each one really 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615184" cy="2395728"/>
          </a:xfrm>
          <a:prstGeom prst="roundRect">
            <a:avLst>
              <a:gd name="adj" fmla="val 4580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pic>
        <p:nvPicPr>
          <p:cNvPr id="5" name="Image 0" descr="/home/user/github-slideshow/page/assets/cast_k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719072"/>
            <a:ext cx="1572768" cy="1572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327355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King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4944" y="3547872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/ Enterprise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93008" y="1572768"/>
            <a:ext cx="2615184" cy="2395728"/>
          </a:xfrm>
          <a:prstGeom prst="roundRect">
            <a:avLst>
              <a:gd name="adj" fmla="val 4580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pic>
        <p:nvPicPr>
          <p:cNvPr id="9" name="Image 1" descr="/home/user/github-slideshow/page/assets/cast_lord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216" y="1719072"/>
            <a:ext cx="1572768" cy="15727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84448" y="327355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Lords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621024" y="3547872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team — the participants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19088" y="1572768"/>
            <a:ext cx="2615184" cy="2395728"/>
          </a:xfrm>
          <a:prstGeom prst="roundRect">
            <a:avLst>
              <a:gd name="adj" fmla="val 4580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pic>
        <p:nvPicPr>
          <p:cNvPr id="13" name="Image 2" descr="/home/user/github-slideshow/page/assets/cast_castl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1719072"/>
            <a:ext cx="1572768" cy="15727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10528" y="327355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Castle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547104" y="3547872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 SaaS provider (Cisco)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345168" y="1572768"/>
            <a:ext cx="2615184" cy="2395728"/>
          </a:xfrm>
          <a:prstGeom prst="roundRect">
            <a:avLst>
              <a:gd name="adj" fmla="val 4580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pic>
        <p:nvPicPr>
          <p:cNvPr id="17" name="Image 3" descr="/home/user/github-slideshow/page/assets/cast_chambe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6376" y="1719072"/>
            <a:ext cx="1572768" cy="15727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36608" y="327355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Meeting Chamber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473184" y="3547872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meeting itself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66928" y="4279392"/>
            <a:ext cx="2615184" cy="2395728"/>
          </a:xfrm>
          <a:prstGeom prst="roundRect">
            <a:avLst>
              <a:gd name="adj" fmla="val 4580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pic>
        <p:nvPicPr>
          <p:cNvPr id="21" name="Image 4" descr="/home/user/github-slideshow/page/assets/cast_maester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4425696"/>
            <a:ext cx="1572768" cy="15727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8368" y="5980176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Maesters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94944" y="6254496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Mesh Node &amp; on-prem AI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3493008" y="4279392"/>
            <a:ext cx="2615184" cy="2395728"/>
          </a:xfrm>
          <a:prstGeom prst="roundRect">
            <a:avLst>
              <a:gd name="adj" fmla="val 4580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pic>
        <p:nvPicPr>
          <p:cNvPr id="25" name="Image 5" descr="/home/user/github-slideshow/page/assets/cast_medallion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4216" y="4425696"/>
            <a:ext cx="1572768" cy="15727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584448" y="5980176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Medallion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3621024" y="6254496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Webex identity + voiceprint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419088" y="4279392"/>
            <a:ext cx="2615184" cy="2395728"/>
          </a:xfrm>
          <a:prstGeom prst="roundRect">
            <a:avLst>
              <a:gd name="adj" fmla="val 4580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pic>
        <p:nvPicPr>
          <p:cNvPr id="29" name="Image 6" descr="/home/user/github-slideshow/page/assets/cast_patent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296" y="4425696"/>
            <a:ext cx="1572768" cy="15727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510528" y="5980176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Letters Patent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6547104" y="6254496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Individual, per-user identity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Cast of characters · from story slide 13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ithub-slideshow/page/assets/p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D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040D1B">
              <a:alpha val="8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36576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Independently Verified Identity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50749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independently verified individuals get in — and deepfakes don't.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5715000"/>
            <a:ext cx="164592" cy="402336"/>
          </a:xfrm>
          <a:prstGeom prst="roundRect">
            <a:avLst>
              <a:gd name="adj" fmla="val 50000"/>
            </a:avLst>
          </a:prstGeom>
          <a:solidFill>
            <a:srgbClr val="02C8FF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5705856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Zero-Trust Identity for every meeting   </a:t>
            </a:r>
            <a:pPr indent="0" marL="0">
              <a:buNone/>
            </a:pPr>
            <a:r>
              <a:rPr lang="en-US" sz="1400" b="1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GA Q3 CY26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15  ·  Chapter 1 of 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1 · INDEPENDENTLY VERIFIED IDENTITY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1.1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Lord is issued with two forms of identity.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participant is provisioned two independent identity factors — no single token grants trust.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15  ·  bullet 1  ·  panel 1.1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1 · INDEPENDENTLY VERIFIED IDENTITY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1.2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Medallion that marks them a Lord, used together with their voice.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Webex Identity (the medallion) is bound to a live voiceprint — mitigating impersonation and deepfakes.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15  ·  bullet 2  ·  panel 1.2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1 · INDEPENDENTLY VERIFIED IDENTITY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1.3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“letters patent” — signed and sealed by the King.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unique, per-user credential (individual identity) is cryptographically issued by the enterprise.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15  ·  bullet 3  ·  panel 1.3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1 · INDEPENDENTLY VERIFIED IDENTITY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1.4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enter the chamber, participant Lords show their medallions to the guards, verify with their voice, and must be on the invite list.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Admission requires identity + voice verification + presence on the invite list — a true zero-trust join.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15  ·  bullet 4  ·  panel 1.4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1 · INDEPENDENTLY VERIFIED IDENTITY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1.5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Inside, the Lords show their letters patent to one another to prove who they say they are.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Participants mutually verify individual identities in-meeting — only verified individuals take part.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15  ·  bullet 5  ·  panel 1.5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ithub-slideshow/page/assets/p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D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040D1B">
              <a:alpha val="8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2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36576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Zero-Trust End-to-End Encryption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50749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shared secret only the participants hold — the provider can't listen in.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5715000"/>
            <a:ext cx="164592" cy="402336"/>
          </a:xfrm>
          <a:prstGeom prst="roundRect">
            <a:avLst>
              <a:gd name="adj" fmla="val 50000"/>
            </a:avLst>
          </a:prstGeom>
          <a:solidFill>
            <a:srgbClr val="02C8FF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5705856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Zero-Trust Encryption for all calls &amp; meetings   </a:t>
            </a:r>
            <a:pPr indent="0" marL="0">
              <a:buNone/>
            </a:pPr>
            <a:r>
              <a:rPr lang="en-US" sz="1400" b="1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GA Q3 CY26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16  ·  Chapter 2 of 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2 · ZERO-TRUST END-TO-END ENCRYPTION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2.1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the Lords share their letters patent.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participant contributes their individual identity to establish the session.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16  ·  bullet 1  ·  panel 2.1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2 · ZERO-TRUST END-TO-END ENCRYPTION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2.2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Combined, the letters patent create a “magic” book holding the code the Lords use to speak inside the chamber.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Their combination derives the shared meeting key used for end-to-end encryption.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16  ·  bullet 2  ·  panel 2.2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2 · ZERO-TRUST END-TO-END ENCRYPTION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2.3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time a Lord enters or leaves, a new book is created and replaces the old — everyone uses the new one from then on.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key is re-derived on every join and leave — giving forward and backward secrecy.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16  ·  bullet 3  ·  panel 2.3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2 · ZERO-TRUST END-TO-END ENCRYPTION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2.4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crow eavesdropping at the window has no book, so it cannot understand a word.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eavesdropper without the key sees only ciphertext — even the SaaS provider cannot decrypt.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16  ·  bullet 4  ·  panel 2.4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ithub-slideshow/page/assets/p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D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040D1B">
              <a:alpha val="8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3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36576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Adding Services into the Meeting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50749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scribes and advisors join under the same rules — records stay with the customer.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5715000"/>
            <a:ext cx="164592" cy="402336"/>
          </a:xfrm>
          <a:prstGeom prst="roundRect">
            <a:avLst>
              <a:gd name="adj" fmla="val 50000"/>
            </a:avLst>
          </a:prstGeom>
          <a:solidFill>
            <a:srgbClr val="02C8FF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5705856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Fully-featured Zero-Trust Meetings — recording &amp; AI   </a:t>
            </a:r>
            <a:pPr indent="0" marL="0">
              <a:buNone/>
            </a:pPr>
            <a:r>
              <a:rPr lang="en-US" sz="1400" b="1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GA Q3 CY26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17  ·  Chapter 3 of 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3 · ADDING SERVICES INTO THE MEETING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3.1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King employs Maesters — learned scholars, doctors and advisors — to serve as scribes in sensitive meetings.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services — Video Mesh Node and on-prem AI — act as trusted scribes and advisors.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17  ·  bullet 1  ·  panel 3.1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3 · ADDING SERVICES INTO THE MEETING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3.2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King issues the Maesters their own special letters patent, used just like a Lord’s.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Those services are issued their own verifiable identity and admitted like any other participant.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17  ·  bullet 2  ·  panel 3.2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3 · ADDING SERVICES INTO THE MEETING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3.3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chairperson may ask a Maester to enter the room.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meeting organizer explicitly invites the service into the session.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17  ·  bullet 3  ·  panel 3.3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3 · ADDING SERVICES INTO THE MEETING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3.4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Maester shows their letters patent, a new book is generated, and they can then follow, document and advise.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join the key rotates to include it; it can transcribe, record and advise inside the meeting.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17  ·  bullet 4  ·  panel 3.4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3 · ADDING SERVICES INTO THE MEETING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3.5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done, all records go to the King’s secure vault — which the castle operator cannot open.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are stored under customer control; the SaaS provider holds no keys and has no access.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17  ·  bullet 5  ·  panel 3.5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4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ithub-slideshow/page/assets/p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D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040D1B">
              <a:alpha val="8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4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36576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Including Others (PSTN &amp; Beyond)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50749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controlled gateway lets the chamber speak to the outside world.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5715000"/>
            <a:ext cx="164592" cy="402336"/>
          </a:xfrm>
          <a:prstGeom prst="roundRect">
            <a:avLst>
              <a:gd name="adj" fmla="val 50000"/>
            </a:avLst>
          </a:prstGeom>
          <a:solidFill>
            <a:srgbClr val="02C8FF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5705856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Bridging legacy &amp; external audio into Zero-Trust meetings   </a:t>
            </a:r>
            <a:pPr indent="0" marL="0">
              <a:buNone/>
            </a:pPr>
            <a:r>
              <a:rPr lang="en-US" sz="1400" b="1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GA Q4 CY26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18  ·  Chapter 4 of 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4 · INCLUDING OTHERS (PSTN &amp; BEYOND)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4.1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Sometimes the Lords must speak to servants — to call for food and wine.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conversations must reach the outside world, e.g. PSTN or legacy endpoints.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18  ·  bullet 1  ·  panel 4.1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4 · INCLUDING OTHERS (PSTN &amp; BEYOND)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4.2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 the Maester, the Chairman adds a special Babel Fish to translate between the coded conversation and the outside world.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controlled gateway bridges the encrypted meeting and external audio, in both directions.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18  ·  bullet 2  ·  panel 4.2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4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ithub-slideshow/page/assets/p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D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040D1B">
              <a:alpha val="8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5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36576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Adding External Participants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50749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Guests join securely from anywhere with a temporary, time-bound identity.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5715000"/>
            <a:ext cx="164592" cy="402336"/>
          </a:xfrm>
          <a:prstGeom prst="roundRect">
            <a:avLst>
              <a:gd name="adj" fmla="val 50000"/>
            </a:avLst>
          </a:prstGeom>
          <a:solidFill>
            <a:srgbClr val="02C8FF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5705856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participants via standard browser — C2B   </a:t>
            </a:r>
            <a:pPr indent="0" marL="0">
              <a:buNone/>
            </a:pPr>
            <a:r>
              <a:rPr lang="en-US" sz="1400" b="1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GA Q3 CY26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19  ·  Chapter 5 of 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5 · ADDING EXTERNAL PARTICIPANTS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5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5.1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Sometimes Lords bring in people on other systems to discuss alliances — the Kingdom of the Isles.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parties on different platforms can be brought in for cross-org and C2B collaboration.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19  ·  bullet 1  ·  panel 5.1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5 · ADDING EXTERNAL PARTICIPANTS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5.2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talks are sensitive and must stay protected — yet cannot be confined to the chamber.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exchange stays protected even as it extends beyond the core meeting.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19  ·  bullet 2  ·  panel 5.2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5 · ADDING EXTERNAL PARTICIPANTS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5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5.3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King issues a temporary letters patent, sent by Carrier Crow.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temporary, time-bound identity is issued and delivered to the external participant.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19  ·  bullet 3  ·  panel 5.3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CHAPTER 5 · ADDING EXTERNAL PARTICIPANTS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362456"/>
            <a:ext cx="7424928" cy="4224528"/>
          </a:xfrm>
          <a:prstGeom prst="roundRect">
            <a:avLst>
              <a:gd name="adj" fmla="val 2165"/>
            </a:avLst>
          </a:prstGeom>
          <a:solidFill>
            <a:srgbClr val="08192E"/>
          </a:solidFill>
          <a:ln w="22225">
            <a:solidFill>
              <a:srgbClr val="3D5478"/>
            </a:solidFill>
            <a:prstDash val="solid"/>
          </a:ln>
        </p:spPr>
      </p:sp>
      <p:pic>
        <p:nvPicPr>
          <p:cNvPr id="5" name="Image 0" descr="/home/user/github-slideshow/page/assets/p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545336"/>
            <a:ext cx="841248" cy="420624"/>
          </a:xfrm>
          <a:prstGeom prst="roundRect">
            <a:avLst>
              <a:gd name="adj" fmla="val 21739"/>
            </a:avLst>
          </a:prstGeom>
          <a:solidFill>
            <a:srgbClr val="07182D">
              <a:alpha val="92000"/>
            </a:srgbClr>
          </a:solidFill>
          <a:ln w="15875">
            <a:solidFill>
              <a:srgbClr val="02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" y="155448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PANEL 5.4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9000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envoy uses a Magic Mirror — standard across all kingdoms — to join remotely, presents the temporary patent, and a new book is shared.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092440" y="3977640"/>
            <a:ext cx="365760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IN CISCO TERMS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74152" y="4480560"/>
            <a:ext cx="3694176" cy="1600200"/>
          </a:xfrm>
          <a:prstGeom prst="roundRect">
            <a:avLst>
              <a:gd name="adj" fmla="val 5714"/>
            </a:avLst>
          </a:prstGeom>
          <a:solidFill>
            <a:srgbClr val="0C203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4626864"/>
            <a:ext cx="327355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join via a standard browser; presenting the temp identity rotates the key to include them.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slide 19  ·  bullet 4  ·  panel 5.4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55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 Secure Collaboration  ·  Cisco GSX 2026  ·  Cisco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40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ithub-slideshow/page/assets/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D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Five chapters, one guarantee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10698480" cy="786384"/>
          </a:xfrm>
          <a:prstGeom prst="roundRect">
            <a:avLst>
              <a:gd name="adj" fmla="val 11628"/>
            </a:avLst>
          </a:prstGeom>
          <a:solidFill>
            <a:srgbClr val="0C2038">
              <a:alpha val="90000"/>
            </a:srgbClr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148132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1 · Verified Identity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297680" y="1481328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E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Independently verified individuals — no deepfakes.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2395728"/>
            <a:ext cx="10698480" cy="786384"/>
          </a:xfrm>
          <a:prstGeom prst="roundRect">
            <a:avLst>
              <a:gd name="adj" fmla="val 11628"/>
            </a:avLst>
          </a:prstGeom>
          <a:solidFill>
            <a:srgbClr val="0C2038">
              <a:alpha val="90000"/>
            </a:srgbClr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2414016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2 · E2E Encryption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297680" y="2414016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E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Rotating keys the provider can never hold.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328416"/>
            <a:ext cx="10698480" cy="786384"/>
          </a:xfrm>
          <a:prstGeom prst="roundRect">
            <a:avLst>
              <a:gd name="adj" fmla="val 11628"/>
            </a:avLst>
          </a:prstGeom>
          <a:solidFill>
            <a:srgbClr val="0C2038">
              <a:alpha val="90000"/>
            </a:srgbClr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346704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3 · Services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297680" y="3346704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E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recording join under the same trust — records stay yours.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31520" y="4261104"/>
            <a:ext cx="10698480" cy="786384"/>
          </a:xfrm>
          <a:prstGeom prst="roundRect">
            <a:avLst>
              <a:gd name="adj" fmla="val 11628"/>
            </a:avLst>
          </a:prstGeom>
          <a:solidFill>
            <a:srgbClr val="0C2038">
              <a:alpha val="90000"/>
            </a:srgbClr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427939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4 · Including Others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297680" y="4279392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E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bridges to PSTN and the outside world.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31520" y="5193792"/>
            <a:ext cx="10698480" cy="786384"/>
          </a:xfrm>
          <a:prstGeom prst="roundRect">
            <a:avLst>
              <a:gd name="adj" fmla="val 11628"/>
            </a:avLst>
          </a:prstGeom>
          <a:solidFill>
            <a:srgbClr val="0C2038">
              <a:alpha val="90000"/>
            </a:srgbClr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52120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8FF"/>
                </a:solidFill>
                <a:latin typeface="Inter Semi Bold" pitchFamily="34" charset="0"/>
                <a:ea typeface="Inter Semi Bold" pitchFamily="34" charset="-122"/>
                <a:cs typeface="Inter Semi Bold" pitchFamily="34" charset="-120"/>
              </a:rPr>
              <a:t>5 · External Guests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297680" y="52120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E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browser access with temporary identities.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31520" y="62362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4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 customers where they are — securely.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Kingdom of Ultra Secure Collaboration — Storyboard</dc:title>
  <dc:subject>PptxGenJS Presentation</dc:subject>
  <dc:creator>Cisco Tech Elevate</dc:creator>
  <cp:lastModifiedBy>Cisco Tech Elevate</cp:lastModifiedBy>
  <cp:revision>1</cp:revision>
  <dcterms:created xsi:type="dcterms:W3CDTF">2026-08-06T02:06:39Z</dcterms:created>
  <dcterms:modified xsi:type="dcterms:W3CDTF">2026-08-06T02:06:39Z</dcterms:modified>
</cp:coreProperties>
</file>