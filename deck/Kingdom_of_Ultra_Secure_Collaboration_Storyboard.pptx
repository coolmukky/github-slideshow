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slideMasters/slideMaster21.xml" ContentType="application/vnd.openxmlformats-officedocument.presentationml.slideMaster+xml"/>
  <Override PartName="/ppt/slides/slide21.xml" ContentType="application/vnd.openxmlformats-officedocument.presentationml.slide+xml"/>
  <Override PartName="/ppt/slideMasters/slideMaster22.xml" ContentType="application/vnd.openxmlformats-officedocument.presentationml.slideMaster+xml"/>
  <Override PartName="/ppt/slides/slide22.xml" ContentType="application/vnd.openxmlformats-officedocument.presentationml.slide+xml"/>
  <Override PartName="/ppt/slideMasters/slideMaster23.xml" ContentType="application/vnd.openxmlformats-officedocument.presentationml.slideMaster+xml"/>
  <Override PartName="/ppt/slides/slide23.xml" ContentType="application/vnd.openxmlformats-officedocument.presentationml.slide+xml"/>
  <Override PartName="/ppt/slideMasters/slideMaster24.xml" ContentType="application/vnd.openxmlformats-officedocument.presentationml.slideMaster+xml"/>
  <Override PartName="/ppt/slides/slide24.xml" ContentType="application/vnd.openxmlformats-officedocument.presentationml.slide+xml"/>
  <Override PartName="/ppt/slideMasters/slideMaster25.xml" ContentType="application/vnd.openxmlformats-officedocument.presentationml.slideMaster+xml"/>
  <Override PartName="/ppt/slides/slide25.xml" ContentType="application/vnd.openxmlformats-officedocument.presentationml.slide+xml"/>
  <Override PartName="/ppt/slideMasters/slideMaster26.xml" ContentType="application/vnd.openxmlformats-officedocument.presentationml.slideMaster+xml"/>
  <Override PartName="/ppt/slides/slide26.xml" ContentType="application/vnd.openxmlformats-officedocument.presentationml.slide+xml"/>
  <Override PartName="/ppt/slideMasters/slideMaster27.xml" ContentType="application/vnd.openxmlformats-officedocument.presentationml.slideMaster+xml"/>
  <Override PartName="/ppt/slides/slide27.xml" ContentType="application/vnd.openxmlformats-officedocument.presentationml.slide+xml"/>
  <Override PartName="/ppt/slideMasters/slideMaster28.xml" ContentType="application/vnd.openxmlformats-officedocument.presentationml.slideMaster+xml"/>
  <Override PartName="/ppt/slides/slide28.xml" ContentType="application/vnd.openxmlformats-officedocument.presentationml.slide+xml"/>
  <Override PartName="/ppt/slideMasters/slideMaster29.xml" ContentType="application/vnd.openxmlformats-officedocument.presentationml.slideMaster+xml"/>
  <Override PartName="/ppt/slides/slide29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notesMasterIdLst>
    <p:notesMasterId r:id="rId31"/>
  </p:notesMasterIdLst>
  <p:sldSz cx="12191695" cy="6858000"/>
  <p:notesSz cx="6858000" cy="12191695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slide" Target="slides/slide21.xml"/><Relationship Id="rId23" Type="http://schemas.openxmlformats.org/officeDocument/2006/relationships/slide" Target="slides/slide22.xml"/><Relationship Id="rId24" Type="http://schemas.openxmlformats.org/officeDocument/2006/relationships/slide" Target="slides/slide23.xml"/><Relationship Id="rId25" Type="http://schemas.openxmlformats.org/officeDocument/2006/relationships/slide" Target="slides/slide24.xml"/><Relationship Id="rId26" Type="http://schemas.openxmlformats.org/officeDocument/2006/relationships/slide" Target="slides/slide25.xml"/><Relationship Id="rId27" Type="http://schemas.openxmlformats.org/officeDocument/2006/relationships/slide" Target="slides/slide26.xml"/><Relationship Id="rId28" Type="http://schemas.openxmlformats.org/officeDocument/2006/relationships/slide" Target="slides/slide27.xml"/><Relationship Id="rId29" Type="http://schemas.openxmlformats.org/officeDocument/2006/relationships/slide" Target="slides/slide28.xml"/><Relationship Id="rId30" Type="http://schemas.openxmlformats.org/officeDocument/2006/relationships/slide" Target="slides/slide29.xml"/><Relationship Id="rId31" Type="http://schemas.openxmlformats.org/officeDocument/2006/relationships/notesMaster" Target="notesMasters/notesMaster1.xml"/><Relationship Id="rId32" Type="http://schemas.openxmlformats.org/officeDocument/2006/relationships/presProps" Target="presProps.xml"/><Relationship Id="rId33" Type="http://schemas.openxmlformats.org/officeDocument/2006/relationships/viewProps" Target="viewProps.xml"/><Relationship Id="rId34" Type="http://schemas.openxmlformats.org/officeDocument/2006/relationships/theme" Target="theme/theme1.xml"/><Relationship Id="rId35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_rels/notesSlide2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1.xml"/>
		</Relationships>
</file>

<file path=ppt/notesSlides/_rels/notesSlide2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2.xml"/>
		</Relationships>
</file>

<file path=ppt/notesSlides/_rels/notesSlide2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3.xml"/>
		</Relationships>
</file>

<file path=ppt/notesSlides/_rels/notesSlide2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4.xml"/>
		</Relationships>
</file>

<file path=ppt/notesSlides/_rels/notesSlide2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5.xml"/>
		</Relationships>
</file>

<file path=ppt/notesSlides/_rels/notesSlide2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6.xml"/>
		</Relationships>
</file>

<file path=ppt/notesSlides/_rels/notesSlide2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7.xml"/>
		</Relationships>
</file>

<file path=ppt/notesSlides/_rels/notesSlide2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8.xml"/>
		</Relationships>
</file>

<file path=ppt/notesSlides/_rels/notesSlide2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9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jpg"/><Relationship Id="rId2" Type="http://schemas.openxmlformats.org/officeDocument/2006/relationships/image" Target="../media/image-2-2.jp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jpg"/><Relationship Id="rId2" Type="http://schemas.openxmlformats.org/officeDocument/2006/relationships/image" Target="../media/image-3-2.jpg"/><Relationship Id="rId3" Type="http://schemas.openxmlformats.org/officeDocument/2006/relationships/image" Target="../media/image-3-3.jpg"/><Relationship Id="rId4" Type="http://schemas.openxmlformats.org/officeDocument/2006/relationships/image" Target="../media/image-3-4.jpg"/><Relationship Id="rId5" Type="http://schemas.openxmlformats.org/officeDocument/2006/relationships/image" Target="../media/image-3-5.jpg"/><Relationship Id="rId6" Type="http://schemas.openxmlformats.org/officeDocument/2006/relationships/image" Target="../media/image-3-6.jpg"/><Relationship Id="rId7" Type="http://schemas.openxmlformats.org/officeDocument/2006/relationships/image" Target="../media/image-3-7.jp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0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0.xml"/></Relationships>
</file>

<file path=ppt/slides/_rels/slide2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1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1.xml"/></Relationships>
</file>

<file path=ppt/slides/_rels/slide2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2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2.xml"/></Relationships>
</file>

<file path=ppt/slides/_rels/slide2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3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3.xml"/></Relationships>
</file>

<file path=ppt/slides/_rels/slide2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4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4.xml"/></Relationships>
</file>

<file path=ppt/slides/_rels/slide2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5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5.xml"/></Relationships>
</file>

<file path=ppt/slides/_rels/slide2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6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6.xml"/></Relationships>
</file>

<file path=ppt/slides/_rels/slide2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7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7.xml"/></Relationships>
</file>

<file path=ppt/slides/_rels/slide2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8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8.xml"/></Relationships>
</file>

<file path=ppt/slides/_rels/slide2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9-1.jp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9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62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4297680"/>
            <a:ext cx="12191695" cy="2560320"/>
          </a:xfrm>
          <a:prstGeom prst="rect">
            <a:avLst/>
          </a:prstGeom>
          <a:solidFill>
            <a:srgbClr val="07182D">
              <a:alpha val="90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00400"/>
            <a:ext cx="82296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5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 VISUAL STORYBOARD</a:t>
            </a:r>
            <a:endParaRPr lang="en-US" sz="1500" dirty="0"/>
          </a:p>
        </p:txBody>
      </p:sp>
      <p:sp>
        <p:nvSpPr>
          <p:cNvPr id="6" name="Text 3"/>
          <p:cNvSpPr/>
          <p:nvPr/>
        </p:nvSpPr>
        <p:spPr>
          <a:xfrm>
            <a:off x="777240" y="3566160"/>
            <a:ext cx="10607040" cy="17373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Kingdom of</a:t>
            </a:r>
            <a:endParaRPr lang="en-US" sz="5200" dirty="0"/>
          </a:p>
          <a:p>
            <a:pPr indent="0" marL="0">
              <a:lnSpc>
                <a:spcPct val="98000"/>
              </a:lnSpc>
              <a:buNone/>
            </a:pPr>
            <a:r>
              <a:rPr lang="en-US" sz="5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Ultra Secure Collaboration</a:t>
            </a:r>
            <a:endParaRPr lang="en-US" sz="5200" dirty="0"/>
          </a:p>
        </p:txBody>
      </p:sp>
      <p:sp>
        <p:nvSpPr>
          <p:cNvPr id="7" name="Text 4"/>
          <p:cNvSpPr/>
          <p:nvPr/>
        </p:nvSpPr>
        <p:spPr>
          <a:xfrm>
            <a:off x="822960" y="5440680"/>
            <a:ext cx="987552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How a medieval kingdom explains Cisco's Zero-Trust meetings, calls and identity — story slides 15–19, one panel per beat.</a:t>
            </a:r>
            <a:endParaRPr lang="en-US" sz="1600" dirty="0"/>
          </a:p>
        </p:txBody>
      </p:sp>
      <p:sp>
        <p:nvSpPr>
          <p:cNvPr id="8" name="Text 5"/>
          <p:cNvSpPr/>
          <p:nvPr/>
        </p:nvSpPr>
        <p:spPr>
          <a:xfrm>
            <a:off x="822960" y="6144768"/>
            <a:ext cx="91440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8FA6C4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Cisco Tech Elevate Sessions at GSX  ·  July 2026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50292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One story, told twice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2344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panel that follows carries the fable on the left and the technology on the right. The allegory is exact — each character and prop maps to a real Cisco Ultra Secure capability.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64008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cas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32688" y="2395728"/>
            <a:ext cx="1371600" cy="137160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246888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246888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kingdom, its Lords, and a guarded castle. Identities are proven, secrets are sealed in a magic book, and unwelcome crows are shut out.</a:t>
            </a:r>
            <a:endParaRPr lang="en-US" sz="1350" dirty="0"/>
          </a:p>
        </p:txBody>
      </p:sp>
      <p:sp>
        <p:nvSpPr>
          <p:cNvPr id="8" name="Shape 5"/>
          <p:cNvSpPr/>
          <p:nvPr/>
        </p:nvSpPr>
        <p:spPr>
          <a:xfrm>
            <a:off x="6263640" y="2103120"/>
            <a:ext cx="5257800" cy="3566160"/>
          </a:xfrm>
          <a:prstGeom prst="roundRect">
            <a:avLst>
              <a:gd name="adj" fmla="val 359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medallion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556248" y="2395728"/>
            <a:ext cx="1371600" cy="137160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8092440" y="2542032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8092440" y="2880360"/>
            <a:ext cx="3200400" cy="914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350" dirty="0">
                <a:solidFill>
                  <a:srgbClr val="DDE8F6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identity, end-to-end encryption with rotating keys, on-prem AI services, and secure external access — all under customer control.</a:t>
            </a:r>
            <a:endParaRPr lang="en-US" sz="1350" dirty="0"/>
          </a:p>
        </p:txBody>
      </p:sp>
      <p:sp>
        <p:nvSpPr>
          <p:cNvPr id="12" name="Text 8"/>
          <p:cNvSpPr/>
          <p:nvPr/>
        </p:nvSpPr>
        <p:spPr>
          <a:xfrm>
            <a:off x="640080" y="5897880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Read each panel left → right:  the fable sets the scene, the decoder line names the real control.</a:t>
            </a:r>
            <a:endParaRPr lang="en-US" sz="1300" dirty="0"/>
          </a:p>
        </p:txBody>
      </p:sp>
      <p:sp>
        <p:nvSpPr>
          <p:cNvPr id="13" name="Text 9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premise</a:t>
            </a:r>
            <a:endParaRPr lang="en-US" sz="900" dirty="0"/>
          </a:p>
        </p:txBody>
      </p:sp>
      <p:sp>
        <p:nvSpPr>
          <p:cNvPr id="14" name="Text 10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384048"/>
            <a:ext cx="73152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</a:t>
            </a:r>
            <a:endParaRPr lang="en-US" sz="3400" dirty="0"/>
          </a:p>
        </p:txBody>
      </p:sp>
      <p:sp>
        <p:nvSpPr>
          <p:cNvPr id="3" name="Text 1"/>
          <p:cNvSpPr/>
          <p:nvPr/>
        </p:nvSpPr>
        <p:spPr>
          <a:xfrm>
            <a:off x="640080" y="1078992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Taxonomy from the story bible — who's who, and what each one really is.</a:t>
            </a:r>
            <a:endParaRPr lang="en-US" sz="1400" dirty="0"/>
          </a:p>
        </p:txBody>
      </p:sp>
      <p:sp>
        <p:nvSpPr>
          <p:cNvPr id="4" name="Shape 2"/>
          <p:cNvSpPr/>
          <p:nvPr/>
        </p:nvSpPr>
        <p:spPr>
          <a:xfrm>
            <a:off x="56692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5" name="Image 0" descr="/home/user/github-slideshow/page/assets/cast_king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88136" y="1719072"/>
            <a:ext cx="1572768" cy="1572768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65836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King</a:t>
            </a:r>
            <a:endParaRPr lang="en-US" sz="1500" dirty="0"/>
          </a:p>
        </p:txBody>
      </p:sp>
      <p:sp>
        <p:nvSpPr>
          <p:cNvPr id="7" name="Text 4"/>
          <p:cNvSpPr/>
          <p:nvPr/>
        </p:nvSpPr>
        <p:spPr>
          <a:xfrm>
            <a:off x="69494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Customer / Enterprise</a:t>
            </a:r>
            <a:endParaRPr lang="en-US" sz="1100" dirty="0"/>
          </a:p>
        </p:txBody>
      </p:sp>
      <p:sp>
        <p:nvSpPr>
          <p:cNvPr id="8" name="Shape 5"/>
          <p:cNvSpPr/>
          <p:nvPr/>
        </p:nvSpPr>
        <p:spPr>
          <a:xfrm>
            <a:off x="349300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9" name="Image 1" descr="/home/user/github-slideshow/page/assets/cast_lords.jp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014216" y="1719072"/>
            <a:ext cx="1572768" cy="1572768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58444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Lords</a:t>
            </a:r>
            <a:endParaRPr lang="en-US" sz="1500" dirty="0"/>
          </a:p>
        </p:txBody>
      </p:sp>
      <p:sp>
        <p:nvSpPr>
          <p:cNvPr id="11" name="Text 7"/>
          <p:cNvSpPr/>
          <p:nvPr/>
        </p:nvSpPr>
        <p:spPr>
          <a:xfrm>
            <a:off x="362102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Management team — the participants</a:t>
            </a:r>
            <a:endParaRPr lang="en-US" sz="1100" dirty="0"/>
          </a:p>
        </p:txBody>
      </p:sp>
      <p:sp>
        <p:nvSpPr>
          <p:cNvPr id="12" name="Shape 8"/>
          <p:cNvSpPr/>
          <p:nvPr/>
        </p:nvSpPr>
        <p:spPr>
          <a:xfrm>
            <a:off x="641908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3" name="Image 2" descr="/home/user/github-slideshow/page/assets/cast_castle.jp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940296" y="1719072"/>
            <a:ext cx="1572768" cy="1572768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51052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Castle</a:t>
            </a:r>
            <a:endParaRPr lang="en-US" sz="1500" dirty="0"/>
          </a:p>
        </p:txBody>
      </p:sp>
      <p:sp>
        <p:nvSpPr>
          <p:cNvPr id="15" name="Text 10"/>
          <p:cNvSpPr/>
          <p:nvPr/>
        </p:nvSpPr>
        <p:spPr>
          <a:xfrm>
            <a:off x="654710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Collaboration SaaS provider (Cisco)</a:t>
            </a:r>
            <a:endParaRPr lang="en-US" sz="1100" dirty="0"/>
          </a:p>
        </p:txBody>
      </p:sp>
      <p:sp>
        <p:nvSpPr>
          <p:cNvPr id="16" name="Shape 11"/>
          <p:cNvSpPr/>
          <p:nvPr/>
        </p:nvSpPr>
        <p:spPr>
          <a:xfrm>
            <a:off x="9345168" y="1572768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17" name="Image 3" descr="/home/user/github-slideshow/page/assets/cast_chamber.jp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9866376" y="1719072"/>
            <a:ext cx="1572768" cy="1572768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436608" y="3273552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Meeting Chamber</a:t>
            </a:r>
            <a:endParaRPr lang="en-US" sz="1500" dirty="0"/>
          </a:p>
        </p:txBody>
      </p:sp>
      <p:sp>
        <p:nvSpPr>
          <p:cNvPr id="19" name="Text 13"/>
          <p:cNvSpPr/>
          <p:nvPr/>
        </p:nvSpPr>
        <p:spPr>
          <a:xfrm>
            <a:off x="9473184" y="3547872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itself</a:t>
            </a:r>
            <a:endParaRPr lang="en-US" sz="1100" dirty="0"/>
          </a:p>
        </p:txBody>
      </p:sp>
      <p:sp>
        <p:nvSpPr>
          <p:cNvPr id="20" name="Shape 14"/>
          <p:cNvSpPr/>
          <p:nvPr/>
        </p:nvSpPr>
        <p:spPr>
          <a:xfrm>
            <a:off x="56692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1" name="Image 4" descr="/home/user/github-slideshow/page/assets/cast_maester.jp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88136" y="4425696"/>
            <a:ext cx="1572768" cy="1572768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65836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Maesters</a:t>
            </a:r>
            <a:endParaRPr lang="en-US" sz="1500" dirty="0"/>
          </a:p>
        </p:txBody>
      </p:sp>
      <p:sp>
        <p:nvSpPr>
          <p:cNvPr id="23" name="Text 16"/>
          <p:cNvSpPr/>
          <p:nvPr/>
        </p:nvSpPr>
        <p:spPr>
          <a:xfrm>
            <a:off x="69494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Video Mesh Node &amp; on-prem AI</a:t>
            </a:r>
            <a:endParaRPr lang="en-US" sz="1100" dirty="0"/>
          </a:p>
        </p:txBody>
      </p:sp>
      <p:sp>
        <p:nvSpPr>
          <p:cNvPr id="24" name="Shape 17"/>
          <p:cNvSpPr/>
          <p:nvPr/>
        </p:nvSpPr>
        <p:spPr>
          <a:xfrm>
            <a:off x="349300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5" name="Image 5" descr="/home/user/github-slideshow/page/assets/cast_medallion.jp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014216" y="4425696"/>
            <a:ext cx="1572768" cy="1572768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358444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Medallion</a:t>
            </a:r>
            <a:endParaRPr lang="en-US" sz="1500" dirty="0"/>
          </a:p>
        </p:txBody>
      </p:sp>
      <p:sp>
        <p:nvSpPr>
          <p:cNvPr id="27" name="Text 19"/>
          <p:cNvSpPr/>
          <p:nvPr/>
        </p:nvSpPr>
        <p:spPr>
          <a:xfrm>
            <a:off x="362102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+ voiceprint</a:t>
            </a:r>
            <a:endParaRPr lang="en-US" sz="1100" dirty="0"/>
          </a:p>
        </p:txBody>
      </p:sp>
      <p:sp>
        <p:nvSpPr>
          <p:cNvPr id="28" name="Shape 20"/>
          <p:cNvSpPr/>
          <p:nvPr/>
        </p:nvSpPr>
        <p:spPr>
          <a:xfrm>
            <a:off x="6419088" y="4279392"/>
            <a:ext cx="2615184" cy="2395728"/>
          </a:xfrm>
          <a:prstGeom prst="roundRect">
            <a:avLst>
              <a:gd name="adj" fmla="val 4580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pic>
        <p:nvPicPr>
          <p:cNvPr id="29" name="Image 6" descr="/home/user/github-slideshow/page/assets/cast_patent.jp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6940296" y="4425696"/>
            <a:ext cx="1572768" cy="1572768"/>
          </a:xfrm>
          <a:prstGeom prst="rect">
            <a:avLst/>
          </a:prstGeom>
        </p:spPr>
      </p:pic>
      <p:sp>
        <p:nvSpPr>
          <p:cNvPr id="30" name="Text 21"/>
          <p:cNvSpPr/>
          <p:nvPr/>
        </p:nvSpPr>
        <p:spPr>
          <a:xfrm>
            <a:off x="6510528" y="5980176"/>
            <a:ext cx="2432304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Letters Patent</a:t>
            </a:r>
            <a:endParaRPr lang="en-US" sz="1500" dirty="0"/>
          </a:p>
        </p:txBody>
      </p:sp>
      <p:sp>
        <p:nvSpPr>
          <p:cNvPr id="31" name="Text 22"/>
          <p:cNvSpPr/>
          <p:nvPr/>
        </p:nvSpPr>
        <p:spPr>
          <a:xfrm>
            <a:off x="6547104" y="6254496"/>
            <a:ext cx="2359152" cy="3840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11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Individual, per-user identity</a:t>
            </a:r>
            <a:endParaRPr lang="en-US" sz="1100" dirty="0"/>
          </a:p>
        </p:txBody>
      </p:sp>
      <p:sp>
        <p:nvSpPr>
          <p:cNvPr id="32" name="Text 23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Cast of characters · from story slide 13</a:t>
            </a:r>
            <a:endParaRPr lang="en-US" sz="900" dirty="0"/>
          </a:p>
        </p:txBody>
      </p:sp>
      <p:sp>
        <p:nvSpPr>
          <p:cNvPr id="33" name="Text 24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Independently Verified Identity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Only independently verified individuals get in — and deepfakes don't.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Identity for every meeting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Chapter 1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Lord is issued with two forms of identity.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is provisioned two independent identity factors — no single token grants trust.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1  ·  panel 1.1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Medallion that marks them a Lord, used together with their voice.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Webex Identity (the medallion) is bound to a live voiceprint — mitigating impersonation and deepfakes.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2  ·  panel 1.2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“letters patent” — signed and sealed by the King.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unique, per-user credential (individual identity) is cryptographically issued by the enterprise.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3  ·  panel 1.3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To enter the chamber, participant Lords show their medallions to the guards, verify with their voice, and must be on the invite list.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Admission requires identity + voice verification + presence on the invite list — a true zero-trust join.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4  ·  panel 1.4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1 · INDEPENDENTLY VERIFIED IDENTITY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1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1.5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Inside, the Lords show their letters patent to one another to prove who they say they are.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Participants mutually verify individual identities in-meeting — only verified individuals take part.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15  ·  bullet 5  ·  panel 1.5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Zero-Trust End-to-End Encryption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shared secret only the participants hold — the provider can't listen in.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Zero-Trust Encryption for all calls &amp;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Chapter 2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All the Lords share their letters patent.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Every participant contributes their individual identity to establish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1  ·  panel 2.1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Combined, the letters patent create a “magic” book holding the code the Lords use to speak inside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Their combination derives the shared meeting key used for end-to-end encryption.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2  ·  panel 2.2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Each time a Lord enters or leaves, a new book is created and replaces the old — everyone uses the new one from then on.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key is re-derived on every join and leave — giving forward and backward secrecy.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3  ·  panel 2.3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2 · ZERO-TRUST END-TO-END ENCRYPTION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2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2.4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crow eavesdropping at the window has no book, so it cannot understand a word.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An eavesdropper without the key sees only ciphertext — even the SaaS provider cannot decrypt.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16  ·  bullet 4  ·  panel 2.4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Services into the Meeting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Trusted scribes and advisors join under the same rules — records stay with the customer.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Fully-featured Zero-Trust Meetings — recording &amp; AI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Chapter 3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employs Maesters — learned scholars, doctors and advisors — to serve as scribes in sensitive meetings.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Optional services — Video Mesh Node and on-prem AI — act as trusted scribes and advisors.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1  ·  panel 3.1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the Maesters their own special letters patent, used just like a Lord’s.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Those services are issued their own verifiable identity and admitted like any other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2  ·  panel 3.2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chairperson may ask a Maester to enter the room.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meeting organizer explicitly invites the service into the session.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3  ·  panel 3.3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Maester shows their letters patent, a new book is generated, and they can then follow, document and advise.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On join the key rotates to include it; it can transcribe, record and advise inside the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4  ·  panel 3.4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3 · ADDING SERVICES INTO THE MEETING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35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3.5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When done, all records go to the King’s secure vault — which the castle operator cannot open.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Records are stored under customer control; the SaaS provider holds no keys and has no access.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17  ·  bullet 5  ·  panel 3.5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1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Including Others (PSTN &amp; Beyond)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lets the chamber speak to the outside world.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Bridging legacy &amp; external audio into Zero-Trust meetings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Q4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Chapter 4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2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the Lords must speak to servants — to call for food and wine.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 conversations must reach the outside world, e.g. PSTN or legacy endpoints.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1  ·  panel 4.1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3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4 · INCLUDING OTHERS (PSTN &amp; BEYOND)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4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4.2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Via the Maester, the Chairman adds a special Babel Fish to translate between the coded conversation and the outside world.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controlled gateway bridges the encrypted meeting and external audio, in both directions.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18  ·  bullet 2  ·  panel 4.2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4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78000"/>
            </a:srgbClr>
          </a:solidFill>
          <a:ln/>
        </p:spPr>
      </p:sp>
      <p:sp>
        <p:nvSpPr>
          <p:cNvPr id="4" name="Shape 1"/>
          <p:cNvSpPr/>
          <p:nvPr/>
        </p:nvSpPr>
        <p:spPr>
          <a:xfrm>
            <a:off x="0" y="3566160"/>
            <a:ext cx="12191695" cy="3291840"/>
          </a:xfrm>
          <a:prstGeom prst="rect">
            <a:avLst/>
          </a:prstGeom>
          <a:solidFill>
            <a:srgbClr val="040D1B">
              <a:alpha val="82000"/>
            </a:srgbClr>
          </a:solidFill>
          <a:ln/>
        </p:spPr>
      </p:sp>
      <p:sp>
        <p:nvSpPr>
          <p:cNvPr id="5" name="Text 2"/>
          <p:cNvSpPr/>
          <p:nvPr/>
        </p:nvSpPr>
        <p:spPr>
          <a:xfrm>
            <a:off x="822960" y="3246120"/>
            <a:ext cx="73152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b="1" spc="6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</a:t>
            </a:r>
            <a:endParaRPr lang="en-US" sz="1800" dirty="0"/>
          </a:p>
        </p:txBody>
      </p:sp>
      <p:sp>
        <p:nvSpPr>
          <p:cNvPr id="6" name="Text 3"/>
          <p:cNvSpPr/>
          <p:nvPr/>
        </p:nvSpPr>
        <p:spPr>
          <a:xfrm>
            <a:off x="777240" y="3657600"/>
            <a:ext cx="10607040" cy="1371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lnSpc>
                <a:spcPct val="98000"/>
              </a:lnSpc>
              <a:buNone/>
            </a:pPr>
            <a:r>
              <a:rPr lang="en-US" sz="46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Adding External Participants</a:t>
            </a:r>
            <a:endParaRPr lang="en-US" sz="4600" dirty="0"/>
          </a:p>
        </p:txBody>
      </p:sp>
      <p:sp>
        <p:nvSpPr>
          <p:cNvPr id="7" name="Text 4"/>
          <p:cNvSpPr/>
          <p:nvPr/>
        </p:nvSpPr>
        <p:spPr>
          <a:xfrm>
            <a:off x="822960" y="5074920"/>
            <a:ext cx="1042416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i="1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Guests join securely from anywhere with a temporary, time-bound identity.</a:t>
            </a:r>
            <a:endParaRPr lang="en-US" sz="1700" dirty="0"/>
          </a:p>
        </p:txBody>
      </p:sp>
      <p:sp>
        <p:nvSpPr>
          <p:cNvPr id="8" name="Shape 5"/>
          <p:cNvSpPr/>
          <p:nvPr/>
        </p:nvSpPr>
        <p:spPr>
          <a:xfrm>
            <a:off x="822960" y="5715000"/>
            <a:ext cx="164592" cy="402336"/>
          </a:xfrm>
          <a:prstGeom prst="roundRect">
            <a:avLst>
              <a:gd name="adj" fmla="val 50000"/>
            </a:avLst>
          </a:prstGeom>
          <a:solidFill>
            <a:srgbClr val="02C8FF"/>
          </a:solidFill>
          <a:ln/>
        </p:spPr>
      </p:sp>
      <p:sp>
        <p:nvSpPr>
          <p:cNvPr id="9" name="Text 6"/>
          <p:cNvSpPr/>
          <p:nvPr/>
        </p:nvSpPr>
        <p:spPr>
          <a:xfrm>
            <a:off x="1097280" y="5705856"/>
            <a:ext cx="10424160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   </a:t>
            </a:r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participants via standard browser — C2B   </a:t>
            </a:r>
            <a:pPr indent="0" marL="0">
              <a:buNone/>
            </a:pPr>
            <a:r>
              <a:rPr lang="en-US" sz="1400" b="1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GA Q3 CY26</a:t>
            </a:r>
            <a:endParaRPr lang="en-US" sz="1400" dirty="0"/>
          </a:p>
        </p:txBody>
      </p:sp>
      <p:sp>
        <p:nvSpPr>
          <p:cNvPr id="10" name="Text 7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Chapter 5 of 5</a:t>
            </a:r>
            <a:endParaRPr lang="en-US" sz="900" dirty="0"/>
          </a:p>
        </p:txBody>
      </p:sp>
      <p:sp>
        <p:nvSpPr>
          <p:cNvPr id="11" name="Text 8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5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1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5.1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Sometimes Lords bring in people on other systems to discuss alliances — the Kingdom of the Isles.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External parties on different platforms can be brought in for cross-org and C2B collaboration.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1  ·  panel 5.1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6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2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5.2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These talks are sensitive and must stay protected — yet cannot be confined to the chamber.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exchange stays protected even as it extends beyond the core meeting.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2  ·  panel 5.2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7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3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5.3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King issues a temporary letters patent, sent by Carrier Crow.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 temporary, time-bound identity is issued and delivered to the external participant.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3  ·  panel 5.3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8">
    <p:bg>
      <p:bgPr>
        <a:solidFill>
          <a:srgbClr val="07182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02920" y="329184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CHAPTER 5 · ADDING EXTERNAL PARTICIPANTS</a:t>
            </a:r>
            <a:endParaRPr lang="en-US" sz="1100" dirty="0"/>
          </a:p>
        </p:txBody>
      </p:sp>
      <p:sp>
        <p:nvSpPr>
          <p:cNvPr id="3" name="Text 1"/>
          <p:cNvSpPr/>
          <p:nvPr/>
        </p:nvSpPr>
        <p:spPr>
          <a:xfrm>
            <a:off x="8503920" y="310896"/>
            <a:ext cx="3200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11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</a:t>
            </a:r>
            <a:endParaRPr lang="en-US" sz="1100" dirty="0"/>
          </a:p>
        </p:txBody>
      </p:sp>
      <p:sp>
        <p:nvSpPr>
          <p:cNvPr id="4" name="Shape 2"/>
          <p:cNvSpPr/>
          <p:nvPr/>
        </p:nvSpPr>
        <p:spPr>
          <a:xfrm>
            <a:off x="402336" y="1362456"/>
            <a:ext cx="7424928" cy="4224528"/>
          </a:xfrm>
          <a:prstGeom prst="roundRect">
            <a:avLst>
              <a:gd name="adj" fmla="val 2165"/>
            </a:avLst>
          </a:prstGeom>
          <a:solidFill>
            <a:srgbClr val="08192E"/>
          </a:solidFill>
          <a:ln w="22225">
            <a:solidFill>
              <a:srgbClr val="3D5478"/>
            </a:solidFill>
            <a:prstDash val="solid"/>
          </a:ln>
        </p:spPr>
      </p:sp>
      <p:pic>
        <p:nvPicPr>
          <p:cNvPr id="5" name="Image 0" descr="/home/user/github-slideshow/page/assets/p54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57200" y="1417320"/>
            <a:ext cx="7315200" cy="4114800"/>
          </a:xfrm>
          <a:prstGeom prst="ellipse">
            <a:avLst/>
          </a:prstGeom>
        </p:spPr>
      </p:pic>
      <p:sp>
        <p:nvSpPr>
          <p:cNvPr id="6" name="Shape 3"/>
          <p:cNvSpPr/>
          <p:nvPr/>
        </p:nvSpPr>
        <p:spPr>
          <a:xfrm>
            <a:off x="585216" y="1545336"/>
            <a:ext cx="841248" cy="420624"/>
          </a:xfrm>
          <a:prstGeom prst="roundRect">
            <a:avLst>
              <a:gd name="adj" fmla="val 21739"/>
            </a:avLst>
          </a:prstGeom>
          <a:solidFill>
            <a:srgbClr val="07182D">
              <a:alpha val="92000"/>
            </a:srgbClr>
          </a:solidFill>
          <a:ln w="15875">
            <a:solidFill>
              <a:srgbClr val="02C8FF"/>
            </a:solidFill>
            <a:prstDash val="solid"/>
          </a:ln>
        </p:spPr>
      </p:sp>
      <p:sp>
        <p:nvSpPr>
          <p:cNvPr id="7" name="Text 4"/>
          <p:cNvSpPr/>
          <p:nvPr/>
        </p:nvSpPr>
        <p:spPr>
          <a:xfrm>
            <a:off x="585216" y="1554480"/>
            <a:ext cx="841248" cy="40233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PANEL 5.4</a:t>
            </a:r>
            <a:endParaRPr lang="en-US" sz="1200" dirty="0"/>
          </a:p>
        </p:txBody>
      </p:sp>
      <p:sp>
        <p:nvSpPr>
          <p:cNvPr id="8" name="Text 5"/>
          <p:cNvSpPr/>
          <p:nvPr/>
        </p:nvSpPr>
        <p:spPr>
          <a:xfrm>
            <a:off x="8092440" y="105156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FF9000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THE STORY</a:t>
            </a:r>
            <a:endParaRPr lang="en-US" sz="1100" dirty="0"/>
          </a:p>
        </p:txBody>
      </p:sp>
      <p:sp>
        <p:nvSpPr>
          <p:cNvPr id="9" name="Text 6"/>
          <p:cNvSpPr/>
          <p:nvPr/>
        </p:nvSpPr>
        <p:spPr>
          <a:xfrm>
            <a:off x="8092440" y="1371600"/>
            <a:ext cx="3657600" cy="22860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8000"/>
              </a:lnSpc>
              <a:buNone/>
            </a:pPr>
            <a:r>
              <a:rPr lang="en-US" sz="1650" dirty="0">
                <a:solidFill>
                  <a:srgbClr val="FFFFFF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 envoy uses a Magic Mirror — standard across all kingdoms — to join remotely, presents the temporary patent, and a new book is shared.</a:t>
            </a:r>
            <a:endParaRPr lang="en-US" sz="1650" dirty="0"/>
          </a:p>
        </p:txBody>
      </p:sp>
      <p:sp>
        <p:nvSpPr>
          <p:cNvPr id="10" name="Shape 7"/>
          <p:cNvSpPr/>
          <p:nvPr/>
        </p:nvSpPr>
        <p:spPr>
          <a:xfrm>
            <a:off x="8092440" y="3977640"/>
            <a:ext cx="3657600" cy="0"/>
          </a:xfrm>
          <a:prstGeom prst="line">
            <a:avLst/>
          </a:prstGeom>
          <a:noFill/>
          <a:ln w="12700">
            <a:solidFill>
              <a:srgbClr val="1E3B5C"/>
            </a:solidFill>
            <a:prstDash val="solid"/>
          </a:ln>
        </p:spPr>
      </p:sp>
      <p:sp>
        <p:nvSpPr>
          <p:cNvPr id="11" name="Text 8"/>
          <p:cNvSpPr/>
          <p:nvPr/>
        </p:nvSpPr>
        <p:spPr>
          <a:xfrm>
            <a:off x="8092440" y="4160520"/>
            <a:ext cx="42062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1100" b="1" spc="200" kern="0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IN CISCO TERMS</a:t>
            </a:r>
            <a:endParaRPr lang="en-US" sz="1100" dirty="0"/>
          </a:p>
        </p:txBody>
      </p:sp>
      <p:sp>
        <p:nvSpPr>
          <p:cNvPr id="12" name="Shape 9"/>
          <p:cNvSpPr/>
          <p:nvPr/>
        </p:nvSpPr>
        <p:spPr>
          <a:xfrm>
            <a:off x="8074152" y="4480560"/>
            <a:ext cx="3694176" cy="1600200"/>
          </a:xfrm>
          <a:prstGeom prst="roundRect">
            <a:avLst>
              <a:gd name="adj" fmla="val 5714"/>
            </a:avLst>
          </a:prstGeom>
          <a:solidFill>
            <a:srgbClr val="0C2038"/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3" name="Text 10"/>
          <p:cNvSpPr/>
          <p:nvPr/>
        </p:nvSpPr>
        <p:spPr>
          <a:xfrm>
            <a:off x="8293608" y="4626864"/>
            <a:ext cx="3273552" cy="13258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06000"/>
              </a:lnSpc>
              <a:buNone/>
            </a:pPr>
            <a:r>
              <a:rPr lang="en-US" sz="1400" dirty="0">
                <a:solidFill>
                  <a:srgbClr val="CFE0F5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They join via a standard browser; presenting the temp identity rotates the key to include them.</a:t>
            </a:r>
            <a:endParaRPr lang="en-US" sz="1400" dirty="0"/>
          </a:p>
        </p:txBody>
      </p:sp>
      <p:sp>
        <p:nvSpPr>
          <p:cNvPr id="14" name="Text 11"/>
          <p:cNvSpPr/>
          <p:nvPr/>
        </p:nvSpPr>
        <p:spPr>
          <a:xfrm>
            <a:off x="457200" y="6455664"/>
            <a:ext cx="7315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l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Story slide 19  ·  bullet 4  ·  panel 5.4</a:t>
            </a:r>
            <a:endParaRPr lang="en-US" sz="900" dirty="0"/>
          </a:p>
        </p:txBody>
      </p:sp>
      <p:sp>
        <p:nvSpPr>
          <p:cNvPr id="15" name="Text 12"/>
          <p:cNvSpPr/>
          <p:nvPr/>
        </p:nvSpPr>
        <p:spPr>
          <a:xfrm>
            <a:off x="4572000" y="6455664"/>
            <a:ext cx="7132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900" dirty="0">
                <a:solidFill>
                  <a:srgbClr val="6E7A8C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Ultra Secure Collaboration  ·  Cisco GSX 2026  ·  Cisco Confidential</a:t>
            </a:r>
            <a:endParaRPr lang="en-US" sz="900" dirty="0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9">
    <p:bg>
      <p:bgPr>
        <a:solidFill>
          <a:srgbClr val="040D1B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Image 0" descr="/home/user/github-slideshow/page/assets/title.jp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0"/>
            <a:ext cx="12191695" cy="6858000"/>
          </a:xfrm>
          <a:prstGeom prst="rect">
            <a:avLst/>
          </a:prstGeom>
        </p:spPr>
      </p:pic>
      <p:sp>
        <p:nvSpPr>
          <p:cNvPr id="3" name="Shape 0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7182D">
              <a:alpha val="80000"/>
            </a:srgbClr>
          </a:solidFill>
          <a:ln/>
        </p:spPr>
      </p:sp>
      <p:sp>
        <p:nvSpPr>
          <p:cNvPr id="4" name="Text 1"/>
          <p:cNvSpPr/>
          <p:nvPr/>
        </p:nvSpPr>
        <p:spPr>
          <a:xfrm>
            <a:off x="731520" y="548640"/>
            <a:ext cx="10972800" cy="6400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200" b="1" dirty="0">
                <a:solidFill>
                  <a:srgbClr val="FFFF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Five chapters, one guarantee</a:t>
            </a:r>
            <a:endParaRPr lang="en-US" sz="3200" dirty="0"/>
          </a:p>
        </p:txBody>
      </p:sp>
      <p:sp>
        <p:nvSpPr>
          <p:cNvPr id="5" name="Shape 2"/>
          <p:cNvSpPr/>
          <p:nvPr/>
        </p:nvSpPr>
        <p:spPr>
          <a:xfrm>
            <a:off x="731520" y="1463040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6" name="Text 3"/>
          <p:cNvSpPr/>
          <p:nvPr/>
        </p:nvSpPr>
        <p:spPr>
          <a:xfrm>
            <a:off x="960120" y="1481328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1 · Verified Identity</a:t>
            </a:r>
            <a:endParaRPr lang="en-US" sz="1700" dirty="0"/>
          </a:p>
        </p:txBody>
      </p:sp>
      <p:sp>
        <p:nvSpPr>
          <p:cNvPr id="7" name="Text 4"/>
          <p:cNvSpPr/>
          <p:nvPr/>
        </p:nvSpPr>
        <p:spPr>
          <a:xfrm>
            <a:off x="4297680" y="1481328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Independently verified individuals — no deepfakes.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731520" y="2395728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9" name="Text 6"/>
          <p:cNvSpPr/>
          <p:nvPr/>
        </p:nvSpPr>
        <p:spPr>
          <a:xfrm>
            <a:off x="960120" y="2414016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2 · E2E Encryption</a:t>
            </a:r>
            <a:endParaRPr lang="en-US" sz="1700" dirty="0"/>
          </a:p>
        </p:txBody>
      </p:sp>
      <p:sp>
        <p:nvSpPr>
          <p:cNvPr id="10" name="Text 7"/>
          <p:cNvSpPr/>
          <p:nvPr/>
        </p:nvSpPr>
        <p:spPr>
          <a:xfrm>
            <a:off x="4297680" y="2414016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Rotating keys the provider can never hold.</a:t>
            </a:r>
            <a:endParaRPr lang="en-US" sz="1500" dirty="0"/>
          </a:p>
        </p:txBody>
      </p:sp>
      <p:sp>
        <p:nvSpPr>
          <p:cNvPr id="11" name="Shape 8"/>
          <p:cNvSpPr/>
          <p:nvPr/>
        </p:nvSpPr>
        <p:spPr>
          <a:xfrm>
            <a:off x="731520" y="3328416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2" name="Text 9"/>
          <p:cNvSpPr/>
          <p:nvPr/>
        </p:nvSpPr>
        <p:spPr>
          <a:xfrm>
            <a:off x="960120" y="3346704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3 · Services</a:t>
            </a:r>
            <a:endParaRPr lang="en-US" sz="1700" dirty="0"/>
          </a:p>
        </p:txBody>
      </p:sp>
      <p:sp>
        <p:nvSpPr>
          <p:cNvPr id="13" name="Text 10"/>
          <p:cNvSpPr/>
          <p:nvPr/>
        </p:nvSpPr>
        <p:spPr>
          <a:xfrm>
            <a:off x="4297680" y="3346704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AI &amp; recording join under the same trust — records stay yours.</a:t>
            </a:r>
            <a:endParaRPr lang="en-US" sz="1500" dirty="0"/>
          </a:p>
        </p:txBody>
      </p:sp>
      <p:sp>
        <p:nvSpPr>
          <p:cNvPr id="14" name="Shape 11"/>
          <p:cNvSpPr/>
          <p:nvPr/>
        </p:nvSpPr>
        <p:spPr>
          <a:xfrm>
            <a:off x="731520" y="4261104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5" name="Text 12"/>
          <p:cNvSpPr/>
          <p:nvPr/>
        </p:nvSpPr>
        <p:spPr>
          <a:xfrm>
            <a:off x="960120" y="4279392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4 · Including Others</a:t>
            </a:r>
            <a:endParaRPr lang="en-US" sz="1700" dirty="0"/>
          </a:p>
        </p:txBody>
      </p:sp>
      <p:sp>
        <p:nvSpPr>
          <p:cNvPr id="16" name="Text 13"/>
          <p:cNvSpPr/>
          <p:nvPr/>
        </p:nvSpPr>
        <p:spPr>
          <a:xfrm>
            <a:off x="4297680" y="4279392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Controlled bridges to PSTN and the outside world.</a:t>
            </a:r>
            <a:endParaRPr lang="en-US" sz="1500" dirty="0"/>
          </a:p>
        </p:txBody>
      </p:sp>
      <p:sp>
        <p:nvSpPr>
          <p:cNvPr id="17" name="Shape 14"/>
          <p:cNvSpPr/>
          <p:nvPr/>
        </p:nvSpPr>
        <p:spPr>
          <a:xfrm>
            <a:off x="731520" y="5193792"/>
            <a:ext cx="10698480" cy="786384"/>
          </a:xfrm>
          <a:prstGeom prst="roundRect">
            <a:avLst>
              <a:gd name="adj" fmla="val 11628"/>
            </a:avLst>
          </a:prstGeom>
          <a:solidFill>
            <a:srgbClr val="0C2038">
              <a:alpha val="90000"/>
            </a:srgbClr>
          </a:solidFill>
          <a:ln w="12700">
            <a:solidFill>
              <a:srgbClr val="1E3B5C"/>
            </a:solidFill>
            <a:prstDash val="solid"/>
          </a:ln>
        </p:spPr>
      </p:sp>
      <p:sp>
        <p:nvSpPr>
          <p:cNvPr id="18" name="Text 15"/>
          <p:cNvSpPr/>
          <p:nvPr/>
        </p:nvSpPr>
        <p:spPr>
          <a:xfrm>
            <a:off x="960120" y="5212080"/>
            <a:ext cx="32918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700" b="1" dirty="0">
                <a:solidFill>
                  <a:srgbClr val="02C8FF"/>
                </a:solidFill>
                <a:latin typeface="Inter Semi Bold" pitchFamily="34" charset="0"/>
                <a:ea typeface="Inter Semi Bold" pitchFamily="34" charset="-122"/>
                <a:cs typeface="Inter Semi Bold" pitchFamily="34" charset="-120"/>
              </a:rPr>
              <a:t>5 · External Guests</a:t>
            </a:r>
            <a:endParaRPr lang="en-US" sz="1700" dirty="0"/>
          </a:p>
        </p:txBody>
      </p:sp>
      <p:sp>
        <p:nvSpPr>
          <p:cNvPr id="19" name="Text 16"/>
          <p:cNvSpPr/>
          <p:nvPr/>
        </p:nvSpPr>
        <p:spPr>
          <a:xfrm>
            <a:off x="4297680" y="5212080"/>
            <a:ext cx="6949440" cy="74980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E7EEF8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Secure browser access with temporary identities.</a:t>
            </a:r>
            <a:endParaRPr lang="en-US" sz="1500" dirty="0"/>
          </a:p>
        </p:txBody>
      </p:sp>
      <p:sp>
        <p:nvSpPr>
          <p:cNvPr id="20" name="Text 17"/>
          <p:cNvSpPr/>
          <p:nvPr/>
        </p:nvSpPr>
        <p:spPr>
          <a:xfrm>
            <a:off x="731520" y="6236208"/>
            <a:ext cx="109728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9FB4D0"/>
                </a:solidFill>
                <a:latin typeface="Inter" pitchFamily="34" charset="0"/>
                <a:ea typeface="Inter" pitchFamily="34" charset="-122"/>
                <a:cs typeface="Inter" pitchFamily="34" charset="-120"/>
              </a:rPr>
              <a:t>Meeting customers where they are — securely.</a:t>
            </a:r>
            <a:endParaRPr lang="en-US" sz="14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29</Slides>
  <Notes>29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29</vt:i4>
      </vt:variant>
    </vt:vector>
  </HeadingPairs>
  <TitlesOfParts>
    <vt:vector size="32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  <vt:lpstr>Slide 21</vt:lpstr>
      <vt:lpstr>Slide 22</vt:lpstr>
      <vt:lpstr>Slide 23</vt:lpstr>
      <vt:lpstr>Slide 24</vt:lpstr>
      <vt:lpstr>Slide 25</vt:lpstr>
      <vt:lpstr>Slide 26</vt:lpstr>
      <vt:lpstr>Slide 27</vt:lpstr>
      <vt:lpstr>Slide 28</vt:lpstr>
      <vt:lpstr>Slide 29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Kingdom of Ultra Secure Collaboration — Storyboard</dc:title>
  <dc:subject>PptxGenJS Presentation</dc:subject>
  <dc:creator>Cisco Tech Elevate</dc:creator>
  <cp:lastModifiedBy>Cisco Tech Elevate</cp:lastModifiedBy>
  <cp:revision>1</cp:revision>
  <dcterms:created xsi:type="dcterms:W3CDTF">2026-08-06T02:20:08Z</dcterms:created>
  <dcterms:modified xsi:type="dcterms:W3CDTF">2026-08-06T02:20:08Z</dcterms:modified>
</cp:coreProperties>
</file>