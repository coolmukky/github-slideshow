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ZTA Design Clinic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21208" y="113385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60-minute playbook: set the teams up, then keep them moving.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Design Clinic  ·  Proctor playbook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0" y="6419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 MINUTES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2140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0F2136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2140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2084832"/>
            <a:ext cx="5257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  </a:t>
            </a:r>
            <a:pPr algn="l" indent="0" marL="0">
              <a:buNone/>
            </a:pPr>
            <a:r>
              <a:rPr lang="en-US" sz="11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four roles; skim the customer architecture and the five use cases.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798064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0F2136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98064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81328" y="2761488"/>
            <a:ext cx="5257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 ·  required   </a:t>
            </a:r>
            <a:pPr algn="l" indent="0" marL="0">
              <a:buNone/>
            </a:pPr>
            <a:r>
              <a:rPr lang="en-US" sz="11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Segmentation. Teams start their one diagram and capture answers.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0F2136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7472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81328" y="3438144"/>
            <a:ext cx="5257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 ·  required   </a:t>
            </a:r>
            <a:pPr algn="l" indent="0" marL="0">
              <a:buNone/>
            </a:pPr>
            <a:r>
              <a:rPr lang="en-US" sz="11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worker Zero Trust Access. Extend the same diagram.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151376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0F2136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51376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81328" y="4114800"/>
            <a:ext cx="5257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  ·  required   </a:t>
            </a:r>
            <a:pPr algn="l" indent="0" marL="0">
              <a:buNone/>
            </a:pPr>
            <a:r>
              <a:rPr lang="en-US" sz="11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access &amp; agent controls. Extend the diagram again.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828032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2344E"/>
          </a:solidFill>
          <a:ln w="12700">
            <a:solidFill>
              <a:srgbClr val="F093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2803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81328" y="4791456"/>
            <a:ext cx="5257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&amp; score   </a:t>
            </a:r>
            <a:pPr algn="l" indent="0" marL="0">
              <a:buNone/>
            </a:pPr>
            <a:r>
              <a:rPr lang="en-US" sz="11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walk you through the design; you score and give feedback.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504688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2344E"/>
          </a:solidFill>
          <a:ln w="12700">
            <a:solidFill>
              <a:srgbClr val="F093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50468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81328" y="5468112"/>
            <a:ext cx="5257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if ahead   </a:t>
            </a:r>
            <a:pPr algn="l" indent="0" marL="0">
              <a:buNone/>
            </a:pPr>
            <a:r>
              <a:rPr lang="en-US" sz="11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 and/or 5, or refine the diagram.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086600" y="2011680"/>
            <a:ext cx="4572000" cy="3931920"/>
          </a:xfrm>
          <a:prstGeom prst="roundRect">
            <a:avLst>
              <a:gd name="adj" fmla="val 2093"/>
            </a:avLst>
          </a:prstGeom>
          <a:solidFill>
            <a:srgbClr val="12233A"/>
          </a:solidFill>
          <a:ln w="12700">
            <a:solidFill>
              <a:srgbClr val="2A3E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60920" y="2212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FIRST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60920" y="2660904"/>
            <a:ext cx="146304" cy="146304"/>
          </a:xfrm>
          <a:prstGeom prst="ellipse">
            <a:avLst/>
          </a:prstGeom>
          <a:solidFill>
            <a:srgbClr val="54BDA4"/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248716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~4 —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keep everyone hands-on.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60920" y="3483864"/>
            <a:ext cx="146304" cy="146304"/>
          </a:xfrm>
          <a:prstGeom prst="ellipse">
            <a:avLst/>
          </a:prstGeom>
          <a:solidFill>
            <a:srgbClr val="54BDA4"/>
          </a:solidFill>
          <a:ln/>
        </p:spPr>
      </p:sp>
      <p:sp>
        <p:nvSpPr>
          <p:cNvPr id="30" name="Text 28"/>
          <p:cNvSpPr/>
          <p:nvPr/>
        </p:nvSpPr>
        <p:spPr>
          <a:xfrm>
            <a:off x="7635240" y="331012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4 roles —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NetOps · Information Security · Compliance · Scribe (records answers).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60920" y="4306824"/>
            <a:ext cx="146304" cy="146304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413308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 cases —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required, 4-5 bonus. Do the required ones first.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60920" y="5129784"/>
            <a:ext cx="146304" cy="146304"/>
          </a:xfrm>
          <a:prstGeom prst="ellipse">
            <a:avLst/>
          </a:prstGeom>
          <a:solidFill>
            <a:srgbClr val="54BDA4"/>
          </a:solidFill>
          <a:ln/>
        </p:spPr>
      </p:sp>
      <p:sp>
        <p:nvSpPr>
          <p:cNvPr id="34" name="Text 32"/>
          <p:cNvSpPr/>
          <p:nvPr/>
        </p:nvSpPr>
        <p:spPr>
          <a:xfrm>
            <a:off x="7635240" y="495604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diagram — </a:t>
            </a:r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a single topology across the use cases, don't restart.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 and coach the teams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21208" y="113385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the thinking. Ask, steer, and reward the reasoning, don't hand over answers.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Design Clinic  ·  Proctor playbook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0" y="6419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330952" cy="1481328"/>
          </a:xfrm>
          <a:prstGeom prst="roundRect">
            <a:avLst>
              <a:gd name="adj" fmla="val 5556"/>
            </a:avLst>
          </a:prstGeom>
          <a:solidFill>
            <a:srgbClr val="15273D"/>
          </a:solidFill>
          <a:ln w="12700">
            <a:solidFill>
              <a:srgbClr val="2A3E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039112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35608" y="2002536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design first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2386584"/>
            <a:ext cx="4187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probing questions to steer the discussion. Give the direction, not the solution.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5330952" cy="1481328"/>
          </a:xfrm>
          <a:prstGeom prst="roundRect">
            <a:avLst>
              <a:gd name="adj" fmla="val 5556"/>
            </a:avLst>
          </a:prstGeom>
          <a:solidFill>
            <a:srgbClr val="15273D"/>
          </a:solidFill>
          <a:ln w="12700">
            <a:solidFill>
              <a:srgbClr val="2A3E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11112" y="2039112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87768" y="2002536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after UC1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87768" y="2386584"/>
            <a:ext cx="4187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team a 60-second check so one wrong pattern doesn't repeat across every use case.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401568"/>
            <a:ext cx="5330952" cy="1481328"/>
          </a:xfrm>
          <a:prstGeom prst="roundRect">
            <a:avLst>
              <a:gd name="adj" fmla="val 5556"/>
            </a:avLst>
          </a:prstGeom>
          <a:solidFill>
            <a:srgbClr val="15273D"/>
          </a:solidFill>
          <a:ln w="12700">
            <a:solidFill>
              <a:srgbClr val="2A3E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3657600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35608" y="3621024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moving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005072"/>
            <a:ext cx="4187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 minutes per required use case. Short bullets, not paragraphs. Name the product, say what and why.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3401568"/>
            <a:ext cx="5330952" cy="1481328"/>
          </a:xfrm>
          <a:prstGeom prst="roundRect">
            <a:avLst>
              <a:gd name="adj" fmla="val 5556"/>
            </a:avLst>
          </a:prstGeom>
          <a:solidFill>
            <a:srgbClr val="15273D"/>
          </a:solidFill>
          <a:ln w="12700">
            <a:solidFill>
              <a:srgbClr val="2A3E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11112" y="3657600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23" name="Text 21"/>
          <p:cNvSpPr/>
          <p:nvPr/>
        </p:nvSpPr>
        <p:spPr>
          <a:xfrm>
            <a:off x="6611112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87768" y="3621024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“why Cisco”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87768" y="4005072"/>
            <a:ext cx="4187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 are the core SE skill. Use the “what to reward” notes in the Solution Guide.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507492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22344E"/>
          </a:solidFill>
          <a:ln w="12700">
            <a:solidFill>
              <a:srgbClr val="2A3E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5358384"/>
            <a:ext cx="402336" cy="402336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340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507492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Coach, don't solve.  </a:t>
            </a:r>
            <a:pPr algn="l" indent="0" marL="0">
              <a:buNone/>
            </a:pPr>
            <a:r>
              <a:rPr lang="en-US" sz="13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 to guide the customer conversation the team is practicing, not to design it for them.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Score, level, and close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21208" y="113385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cumulative level per group. A perfect three caps at Professional, Expert needs all five.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Design Clinic  ·  Proctor playbook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0" y="6419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08760" y="2148840"/>
            <a:ext cx="9171432" cy="0"/>
          </a:xfrm>
          <a:prstGeom prst="line">
            <a:avLst/>
          </a:prstGeom>
          <a:noFill/>
          <a:ln w="25400">
            <a:solidFill>
              <a:srgbClr val="2A3E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1016" y="1911096"/>
            <a:ext cx="475488" cy="475488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1016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2459736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use case /100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3874" y="1911096"/>
            <a:ext cx="475488" cy="475488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3874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77490" y="2459736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cumulative totals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6732" y="1911096"/>
            <a:ext cx="475488" cy="475488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6732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0348" y="2459736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ONE group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49590" y="1911096"/>
            <a:ext cx="475488" cy="475488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9590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3206" y="2459736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overall feedback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442448" y="1911096"/>
            <a:ext cx="475488" cy="475488"/>
          </a:xfrm>
          <a:prstGeom prst="ellipse">
            <a:avLst/>
          </a:prstGeom>
          <a:solidFill>
            <a:srgbClr val="F0932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42448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56064" y="2459736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the expert design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3547872" cy="1874520"/>
          </a:xfrm>
          <a:prstGeom prst="roundRect">
            <a:avLst>
              <a:gd name="adj" fmla="val 4390"/>
            </a:avLst>
          </a:prstGeom>
          <a:solidFill>
            <a:srgbClr val="12233A"/>
          </a:solidFill>
          <a:ln w="12700">
            <a:solidFill>
              <a:srgbClr val="2A3E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" y="3922776"/>
            <a:ext cx="201168" cy="201168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24" name="Text 22"/>
          <p:cNvSpPr/>
          <p:nvPr/>
        </p:nvSpPr>
        <p:spPr>
          <a:xfrm>
            <a:off x="1106424" y="3849624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3816" y="4361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required use cases completed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3816" y="474573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under 70%  (below 210 / 300)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15968" y="3611880"/>
            <a:ext cx="3547872" cy="1874520"/>
          </a:xfrm>
          <a:prstGeom prst="roundRect">
            <a:avLst>
              <a:gd name="adj" fmla="val 4390"/>
            </a:avLst>
          </a:prstGeom>
          <a:solidFill>
            <a:srgbClr val="12233A"/>
          </a:solidFill>
          <a:ln w="12700">
            <a:solidFill>
              <a:srgbClr val="2A3E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3922776"/>
            <a:ext cx="201168" cy="201168"/>
          </a:xfrm>
          <a:prstGeom prst="ellipse">
            <a:avLst/>
          </a:prstGeom>
          <a:solidFill>
            <a:srgbClr val="54BDA4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3849624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4B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26864" y="4361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required use cases completed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26864" y="474573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or higher  (210 / 300 or more). A perfect three is Professional.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9016" y="3611880"/>
            <a:ext cx="3547872" cy="1874520"/>
          </a:xfrm>
          <a:prstGeom prst="roundRect">
            <a:avLst>
              <a:gd name="adj" fmla="val 4390"/>
            </a:avLst>
          </a:prstGeom>
          <a:solidFill>
            <a:srgbClr val="12233A"/>
          </a:solidFill>
          <a:ln w="12700">
            <a:solidFill>
              <a:srgbClr val="2A3E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39912" y="3922776"/>
            <a:ext cx="201168" cy="201168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34" name="Text 32"/>
          <p:cNvSpPr/>
          <p:nvPr/>
        </p:nvSpPr>
        <p:spPr>
          <a:xfrm>
            <a:off x="8732520" y="3849624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439912" y="4361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use cases attempted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39912" y="474573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or higher  (400 / 500 or more).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5742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 case:  </a:t>
            </a:r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40 · Products 30 · Diagram 30.  Overall feedback and the group level go on the Workbook's final page.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2026-08-14T13:10:36Z</dcterms:created>
  <dcterms:modified xsi:type="dcterms:W3CDTF">2026-08-14T13:10:36Z</dcterms:modified>
</cp:coreProperties>
</file>